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8A0E1A"/>
          </a:solidFill>
          <a:ln w="12700">
            <a:solidFill>
              <a:srgbClr val="8A0E1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475488"/>
            <a:ext cx="68122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Identifying dissatisfied customers early is critical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58368" y="93268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80" dirty="0">
                <a:solidFill>
                  <a:srgbClr val="5F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 the warning signals are hidden in complex, high-dimensional data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8485632" y="548640"/>
            <a:ext cx="2980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60" b="1" dirty="0">
                <a:solidFill>
                  <a:srgbClr val="8A0E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SANTANDER CUSTOMER DISSATISFACTION</a:t>
            </a:r>
            <a:endParaRPr lang="en-US" sz="860" dirty="0"/>
          </a:p>
        </p:txBody>
      </p:sp>
      <p:sp>
        <p:nvSpPr>
          <p:cNvPr id="7" name="Text 5"/>
          <p:cNvSpPr/>
          <p:nvPr/>
        </p:nvSpPr>
        <p:spPr>
          <a:xfrm>
            <a:off x="777240" y="162763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CONTEXT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777240" y="1847088"/>
            <a:ext cx="3063240" cy="3401568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3970">
            <a:solidFill>
              <a:srgbClr val="E8E1DA"/>
            </a:solidFill>
            <a:prstDash val="solid"/>
          </a:ln>
          <a:effectLst>
            <a:outerShdw sx="100000" sy="100000" kx="0" ky="0" algn="bl" rotWithShape="0" blurRad="12700" dist="50800" dir="2700000">
              <a:srgbClr val="D6D0CA">
                <a:alpha val="1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07692" y="2103120"/>
            <a:ext cx="237744" cy="237744"/>
          </a:xfrm>
          <a:prstGeom prst="arc">
            <a:avLst/>
          </a:prstGeom>
          <a:solidFill>
            <a:srgbClr val="FFFFFF">
              <a:alpha val="0"/>
            </a:srgbClr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61972" y="2048256"/>
            <a:ext cx="164592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79676" y="2231136"/>
            <a:ext cx="329184" cy="219456"/>
          </a:xfrm>
          <a:prstGeom prst="arc">
            <a:avLst/>
          </a:prstGeom>
          <a:solidFill>
            <a:srgbClr val="FFFFFF">
              <a:alpha val="0"/>
            </a:srgbClr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54580" y="2231136"/>
            <a:ext cx="320040" cy="0"/>
          </a:xfrm>
          <a:prstGeom prst="line">
            <a:avLst/>
          </a:prstGeom>
          <a:noFill/>
          <a:ln w="2159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033272" y="2615184"/>
            <a:ext cx="2551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Retention is strategic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1033272" y="3054096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C81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early signals</a:t>
            </a:r>
            <a:endParaRPr lang="en-US" sz="2450" dirty="0"/>
          </a:p>
        </p:txBody>
      </p:sp>
      <p:sp>
        <p:nvSpPr>
          <p:cNvPr id="15" name="Text 13"/>
          <p:cNvSpPr/>
          <p:nvPr/>
        </p:nvSpPr>
        <p:spPr>
          <a:xfrm>
            <a:off x="1033272" y="3447288"/>
            <a:ext cx="2551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8A0E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CHURN SHOWS UP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1124712" y="3913632"/>
            <a:ext cx="23682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5F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Dissatisfied customers often leave without complaining first — by the time churn appears, intervention is late.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1307592" y="4864608"/>
            <a:ext cx="2002536" cy="0"/>
          </a:xfrm>
          <a:prstGeom prst="line">
            <a:avLst/>
          </a:prstGeom>
          <a:noFill/>
          <a:ln w="12700">
            <a:solidFill>
              <a:srgbClr val="E8E1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62856" y="162763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4562856" y="1847088"/>
            <a:ext cx="3063240" cy="3401568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3970">
            <a:solidFill>
              <a:srgbClr val="E8E1DA"/>
            </a:solidFill>
            <a:prstDash val="solid"/>
          </a:ln>
          <a:effectLst>
            <a:outerShdw sx="100000" sy="100000" kx="0" ky="0" algn="bl" rotWithShape="0" blurRad="12700" dist="50800" dir="2700000">
              <a:srgbClr val="D6D0CA">
                <a:alpha val="1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02452" y="2148840"/>
            <a:ext cx="73152" cy="3017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21324" y="2249424"/>
            <a:ext cx="73152" cy="20116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40196" y="2057400"/>
            <a:ext cx="73152" cy="3931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38444" y="2450592"/>
            <a:ext cx="512064" cy="0"/>
          </a:xfrm>
          <a:prstGeom prst="line">
            <a:avLst/>
          </a:prstGeom>
          <a:noFill/>
          <a:ln w="15240">
            <a:solidFill>
              <a:srgbClr val="8A0E1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38444" y="2450592"/>
            <a:ext cx="0" cy="-402336"/>
          </a:xfrm>
          <a:prstGeom prst="line">
            <a:avLst/>
          </a:prstGeom>
          <a:noFill/>
          <a:ln w="15240">
            <a:solidFill>
              <a:srgbClr val="8A0E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40196" y="2029968"/>
            <a:ext cx="256032" cy="256032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8A0E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615184"/>
            <a:ext cx="2551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Detection is hard</a:t>
            </a:r>
            <a:endParaRPr lang="en-US" sz="1620" dirty="0"/>
          </a:p>
        </p:txBody>
      </p:sp>
      <p:sp>
        <p:nvSpPr>
          <p:cNvPr id="27" name="Text 25"/>
          <p:cNvSpPr/>
          <p:nvPr/>
        </p:nvSpPr>
        <p:spPr>
          <a:xfrm>
            <a:off x="4818888" y="3054096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C81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76K | 306 | 3.96%</a:t>
            </a:r>
            <a:endParaRPr lang="en-US" sz="2450" dirty="0"/>
          </a:p>
        </p:txBody>
      </p:sp>
      <p:sp>
        <p:nvSpPr>
          <p:cNvPr id="28" name="Text 26"/>
          <p:cNvSpPr/>
          <p:nvPr/>
        </p:nvSpPr>
        <p:spPr>
          <a:xfrm>
            <a:off x="4818888" y="3447288"/>
            <a:ext cx="2551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8A0E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 FEATURES  DISSATISFIED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4910328" y="3913632"/>
            <a:ext cx="23682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5F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labels and anonymized features make manual rules unreliable and simple analysis too shallow.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5093208" y="4864608"/>
            <a:ext cx="2002536" cy="0"/>
          </a:xfrm>
          <a:prstGeom prst="line">
            <a:avLst/>
          </a:prstGeom>
          <a:noFill/>
          <a:ln w="12700">
            <a:solidFill>
              <a:srgbClr val="E8E1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48472" y="1627632"/>
            <a:ext cx="3063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APPROACH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8348472" y="1847088"/>
            <a:ext cx="3063240" cy="3401568"/>
          </a:xfrm>
          <a:prstGeom prst="roundRect">
            <a:avLst>
              <a:gd name="adj" fmla="val 1791"/>
            </a:avLst>
          </a:prstGeom>
          <a:solidFill>
            <a:srgbClr val="FFFFFF"/>
          </a:solidFill>
          <a:ln w="13970">
            <a:solidFill>
              <a:srgbClr val="E8E1DA"/>
            </a:solidFill>
            <a:prstDash val="solid"/>
          </a:ln>
          <a:effectLst>
            <a:outerShdw sx="100000" sy="100000" kx="0" ky="0" algn="bl" rotWithShape="0" blurRad="12700" dist="50800" dir="2700000">
              <a:srgbClr val="D6D0CA">
                <a:alpha val="1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614916" y="2039112"/>
            <a:ext cx="530352" cy="530352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8A0E1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06356" y="2130552"/>
            <a:ext cx="347472" cy="347472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8A0E1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97796" y="2221992"/>
            <a:ext cx="164592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2860">
            <a:solidFill>
              <a:srgbClr val="C8102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550908" y="2615184"/>
            <a:ext cx="530352" cy="-530352"/>
          </a:xfrm>
          <a:prstGeom prst="line">
            <a:avLst/>
          </a:prstGeom>
          <a:noFill/>
          <a:ln w="2286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8604504" y="2615184"/>
            <a:ext cx="255117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F29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 risk early</a:t>
            </a:r>
            <a:endParaRPr lang="en-US" sz="1620" dirty="0"/>
          </a:p>
        </p:txBody>
      </p:sp>
      <p:sp>
        <p:nvSpPr>
          <p:cNvPr id="38" name="Text 36"/>
          <p:cNvSpPr/>
          <p:nvPr/>
        </p:nvSpPr>
        <p:spPr>
          <a:xfrm>
            <a:off x="8604504" y="3054096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C810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proactive retention</a:t>
            </a:r>
            <a:endParaRPr lang="en-US" sz="2450" dirty="0"/>
          </a:p>
        </p:txBody>
      </p:sp>
      <p:sp>
        <p:nvSpPr>
          <p:cNvPr id="39" name="Text 37"/>
          <p:cNvSpPr/>
          <p:nvPr/>
        </p:nvSpPr>
        <p:spPr>
          <a:xfrm>
            <a:off x="8604504" y="3447288"/>
            <a:ext cx="2551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8A0E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MODEL-LED ACTION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8695944" y="3913632"/>
            <a:ext cx="23682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5F68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high-risk customers early so Santander can turn passive churn into targeted retention.</a:t>
            </a:r>
            <a:endParaRPr lang="en-US" sz="1280" dirty="0"/>
          </a:p>
        </p:txBody>
      </p:sp>
      <p:sp>
        <p:nvSpPr>
          <p:cNvPr id="41" name="Shape 39"/>
          <p:cNvSpPr/>
          <p:nvPr/>
        </p:nvSpPr>
        <p:spPr>
          <a:xfrm>
            <a:off x="8878824" y="4864608"/>
            <a:ext cx="2002536" cy="0"/>
          </a:xfrm>
          <a:prstGeom prst="line">
            <a:avLst/>
          </a:prstGeom>
          <a:noFill/>
          <a:ln w="12700">
            <a:solidFill>
              <a:srgbClr val="E8E1D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904488" y="3529584"/>
            <a:ext cx="475488" cy="0"/>
          </a:xfrm>
          <a:prstGeom prst="line">
            <a:avLst/>
          </a:prstGeom>
          <a:noFill/>
          <a:ln w="4064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690104" y="3529584"/>
            <a:ext cx="475488" cy="0"/>
          </a:xfrm>
          <a:prstGeom prst="line">
            <a:avLst/>
          </a:prstGeom>
          <a:noFill/>
          <a:ln w="40640">
            <a:solidFill>
              <a:srgbClr val="C8102E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1298448" y="577900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Predictive analytics converts silent dissatisfaction into an actionable retention queue.</a:t>
            </a:r>
            <a:endParaRPr lang="en-US" sz="12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Predictive Analytics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Identifying dissatisfied customers early</dc:title>
  <dc:subject>Santander customer dissatisfaction predictive modeling</dc:subject>
  <dc:creator>Codex</dc:creator>
  <cp:lastModifiedBy>Codex</cp:lastModifiedBy>
  <cp:revision>1</cp:revision>
  <dcterms:created xsi:type="dcterms:W3CDTF">2026-05-05T02:35:10Z</dcterms:created>
  <dcterms:modified xsi:type="dcterms:W3CDTF">2026-05-05T02:35:10Z</dcterms:modified>
</cp:coreProperties>
</file>